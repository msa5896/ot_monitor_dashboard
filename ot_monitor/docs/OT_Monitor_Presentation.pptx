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5720" cy="67848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4630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</a:rPr>
              <a:t>OT INFECTION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3172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00E5FF"/>
                </a:solidFill>
              </a:rPr>
              <a:t>MONITORING SYSTEM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246120"/>
            <a:ext cx="502920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9BAA"/>
                </a:solidFill>
              </a:rPr>
              <a:t>Real-time Environmental Monitoring for Operating Theatres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862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AB00"/>
                </a:solidFill>
              </a:rPr>
              <a:t>Raspberry Pi 4  ·  SCD30  ·  BME280  ·  PMS5003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663440"/>
            <a:ext cx="571500" cy="2560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4681727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</a:rPr>
              <a:t> CO₂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34440" y="4663440"/>
            <a:ext cx="1193292" cy="2560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4681727"/>
            <a:ext cx="11932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</a:rPr>
              <a:t> Temperature 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4663440"/>
            <a:ext cx="960120" cy="25603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79" y="4681727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A0E1A"/>
                </a:solidFill>
              </a:rPr>
              <a:t> Humidity 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4663440"/>
            <a:ext cx="1115568" cy="25603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91839" y="4681727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 PM2.5/PM10 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60" y="4663440"/>
            <a:ext cx="960120" cy="256032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4681727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 Pressure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20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A"/>
                </a:solidFill>
              </a:rPr>
              <a:t>Compliant: NABH · ASHRAE 170 · WHO IEQ · ISO 14644-1</a:t>
            </a:r>
          </a:p>
        </p:txBody>
      </p:sp>
      <p:pic>
        <p:nvPicPr>
          <p:cNvPr id="20" name="Picture 19" descr="logout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914400"/>
            <a:ext cx="5394960" cy="347472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6583680" y="914400"/>
            <a:ext cx="5394960" cy="3474720"/>
          </a:xfrm>
          <a:prstGeom prst="rect">
            <a:avLst/>
          </a:prstGeom>
          <a:noFill/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2D40"/>
                </a:solidFill>
              </a:rPr>
              <a:t>Intelligent Healthcare  ·  Operating Theatre Safety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Why Monitor the OT Environment?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Surgical site infections (SSI) are directly linked to uncontrolled environmental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2697480"/>
            <a:ext cx="5577840" cy="178308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807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🦠  Surgical Site Infections (SSI)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3154680"/>
            <a:ext cx="521208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22783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A"/>
                </a:solidFill>
              </a:rPr>
              <a:t>3–15% of OT procedures result in SSI. Contaminated air is a leading cause.
WHO estimates SSIs add 10 extra days to hospital stay.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697480"/>
            <a:ext cx="5577840" cy="178308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807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🌡️  Temperature &amp; Humidity Drift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46520" y="3154680"/>
            <a:ext cx="521208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22783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A"/>
                </a:solidFill>
              </a:rPr>
              <a:t>ASHRAE 170 mandates 20–24°C and 40–60% RH. Violations degrade sterility
and affect staff performance and patient thermoregulation.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892040"/>
            <a:ext cx="5577840" cy="178308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001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💨  Particulate Matter (PM2.5 / PM10)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349240"/>
            <a:ext cx="521208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42239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A"/>
                </a:solidFill>
              </a:rPr>
              <a:t>Surgical smoke, skin shedding, and HVAC failure spike PM levels.
ISO 14644-1 Class 7 requires &lt;352,000 particles ≥0.5µm per m³.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4892040"/>
            <a:ext cx="5577840" cy="178308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500176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E5FF"/>
                </a:solidFill>
              </a:rPr>
              <a:t>🌿  CO₂ Accumulation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520" y="5349240"/>
            <a:ext cx="521208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5422392"/>
            <a:ext cx="5120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BAA"/>
                </a:solidFill>
              </a:rPr>
              <a:t>NIOSH action level: 1000 ppm. Elevated CO₂ indicates insufficient
ventilation — raising infection risk and impairing surgeon alertness.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Three-layer design: Physical sensors → FastAPI backend → Web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474720" cy="530352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47472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115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</a:rPr>
              <a:t>HARDWARE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444752"/>
            <a:ext cx="32004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SCD30 — CO₂ + Temp + Humidity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BME280 — Barometric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25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PMS5003 — PM1 / PM2.5 / PM10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838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Raspberry Pi 4 (host)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42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I²C @ 10kHz + UART2 @ 9600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60" y="1005840"/>
            <a:ext cx="3474720" cy="530352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005840"/>
            <a:ext cx="3474720" cy="457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1115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B00"/>
                </a:solidFill>
              </a:rPr>
              <a:t>BACKEND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444752"/>
            <a:ext cx="32004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FastAPI + Uvicorn (port 8001)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HardwareSource (asyncio + threads)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825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AlarmEngine (hysteresis rules)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34838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SQLite storage (90-day retention)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20" y="4142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REST API + WebSocket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HMAC-SHA256 session auth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83879" y="1005840"/>
            <a:ext cx="3474720" cy="530352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83879" y="1005840"/>
            <a:ext cx="347472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11556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DASHBOARD LAYER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444752"/>
            <a:ext cx="32004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508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Single-page HTML/CSS/JS app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21671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Served from backend (same-origin)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8254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Monitor · Alarms · History · Settings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34838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Role-based UI (admin / viewer)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41422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Live data via REST polling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4800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</a:rPr>
              <a:t>▸  Runs in any modern browser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3200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9BAA"/>
                </a:solidFill>
              </a:rPr>
              <a:t>→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09560" y="320040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9BAA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Hardware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Three sensors covering all key OT environmental parameters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3657600" cy="53492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05840"/>
            <a:ext cx="365760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0789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E5FF"/>
                </a:solidFill>
              </a:rPr>
              <a:t>SCD30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4447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Sensirion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682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CO₂ · Temperature · Humidity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993392"/>
            <a:ext cx="960120" cy="256032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01168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00E5FF"/>
                </a:solidFill>
              </a:rPr>
              <a:t>I²C @ 0x61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331720"/>
            <a:ext cx="329184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24505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CO₂ Range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4505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400–10,000 ppm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3063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Temp Range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40280" y="3063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-40 to +70 °C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758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Humidity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36758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0–95 %RH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8853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28853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I²C (10 kHz)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490118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Address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490118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0x61 (fixed)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51383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Power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5138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3.3V / 19 mA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1005840"/>
            <a:ext cx="3657600" cy="53492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251959" y="1005840"/>
            <a:ext cx="3657600" cy="457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34840" y="10789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AB00"/>
                </a:solidFill>
              </a:rPr>
              <a:t>BME280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34840" y="14447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Bosch Sensortec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1682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Barometric Pressure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434840" y="1993392"/>
            <a:ext cx="960120" cy="256032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80559" y="2011680"/>
            <a:ext cx="960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AB00"/>
                </a:solidFill>
              </a:rPr>
              <a:t>I²C @ 0x76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34840" y="2331720"/>
            <a:ext cx="329184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4505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Pressure Range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72200" y="24505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300–1100 hPa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3063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3063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±1 hPa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36758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Temp Range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6758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-40 to +85 °C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428853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Interface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72200" y="428853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I²C (shared bus)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34840" y="490118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Address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72200" y="490118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0x76 (SDO→GND)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34840" y="551383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Power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172200" y="55138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3.3V / 3.6 µA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3879" y="1005840"/>
            <a:ext cx="3657600" cy="53492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83879" y="1005840"/>
            <a:ext cx="3657600" cy="457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66759" y="1078992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5252"/>
                </a:solidFill>
              </a:rPr>
              <a:t>PMS5003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66759" y="1444752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Plantower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66759" y="1682496"/>
            <a:ext cx="3291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PM1.0 · PM2.5 · PM10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66759" y="1993392"/>
            <a:ext cx="1115568" cy="256032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412480" y="2011680"/>
            <a:ext cx="11155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5252"/>
                </a:solidFill>
              </a:rPr>
              <a:t>UART2 @ 9600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366759" y="2331720"/>
            <a:ext cx="329184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66759" y="245059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PM Range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19" y="245059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0–500 µg/m³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66759" y="3063240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Resolution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04119" y="3063240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1 µg/m³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59" y="3675888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Technology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104119" y="3675888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Laser scattering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66759" y="4288536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Interface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04119" y="4288536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UART2 @ 9600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66759" y="4901184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04119" y="4901184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/dev/ttyAMA1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66759" y="5513832"/>
            <a:ext cx="1737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Power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104119" y="5513832"/>
            <a:ext cx="1645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5V / 100 mA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20040" y="6080760"/>
            <a:ext cx="11521440" cy="59436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6126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Raspberry Pi 4 Model B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114800" y="6172200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Host platform · 64-bit ARM Cortex-A72 · 2–8 GB RAM · Ubuntu/RPi OS Bookworm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GPIO Wiring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All sensors connect to the 40-pin GPIO header — no soldering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4114800" cy="55778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Raspberry Pi 4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3749039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600200"/>
            <a:ext cx="571500" cy="2560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18488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002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3.3V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057400"/>
            <a:ext cx="571500" cy="25603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075688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0574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5V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514600"/>
            <a:ext cx="571500" cy="25603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532888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2514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GPIO2 / SDA1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971800"/>
            <a:ext cx="571500" cy="25603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990088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9718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GPIO3 / SCL1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429000"/>
            <a:ext cx="571500" cy="256032"/>
          </a:xfrm>
          <a:prstGeom prst="rect">
            <a:avLst/>
          </a:prstGeom>
          <a:solidFill>
            <a:srgbClr val="8A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447288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" y="34290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886200"/>
            <a:ext cx="571500" cy="256032"/>
          </a:xfrm>
          <a:prstGeom prst="rect">
            <a:avLst/>
          </a:prstGeom>
          <a:solidFill>
            <a:srgbClr val="8A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04487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8862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GND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343400"/>
            <a:ext cx="649224" cy="2560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36168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43434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GPIO17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800600"/>
            <a:ext cx="649224" cy="256032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81888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13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8006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GPIO27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5257800"/>
            <a:ext cx="649224" cy="256032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527608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" y="52578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GPIO9 / UART2 RX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715000"/>
            <a:ext cx="649224" cy="256032"/>
          </a:xfrm>
          <a:prstGeom prst="rect">
            <a:avLst/>
          </a:prstGeom>
          <a:solidFill>
            <a:srgbClr val="CE9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733288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0A0E1A"/>
                </a:solidFill>
              </a:rPr>
              <a:t>Pin 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" y="5715000"/>
            <a:ext cx="3108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GPIO8 / UART2 TX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0" y="1051560"/>
            <a:ext cx="7223760" cy="55778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0" y="11155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Sensor Connections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754880" y="1463040"/>
            <a:ext cx="6858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754880" y="1554480"/>
            <a:ext cx="6858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754880" y="1572768"/>
            <a:ext cx="571500" cy="2560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00600" y="1591056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SCD30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06440" y="1572768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VCC  → Pin 1  (3.3V)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1920240"/>
            <a:ext cx="571500" cy="2560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800600" y="1938528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SCD30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06440" y="1920240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GND  → Pin 6  (GND)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754880" y="2267712"/>
            <a:ext cx="571500" cy="2560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800600" y="2286000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SCD30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2267712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SDA  → Pin 3  (GPIO2 / SDA1)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80" y="2615184"/>
            <a:ext cx="571500" cy="2560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00600" y="2633472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SCD30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06440" y="2615184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SCL  → Pin 5  (GPIO3 / SCL1)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0" y="2962656"/>
            <a:ext cx="571500" cy="25603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00600" y="2980944"/>
            <a:ext cx="5715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SCD30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2962656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SEL  → Pin 6  (GND)  ← I²C mode select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3291839"/>
            <a:ext cx="6858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54880" y="3310128"/>
            <a:ext cx="649224" cy="25603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800600" y="3328416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BME280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06440" y="3310128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VCC  → Pin 1  (3.3V)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754880" y="3657600"/>
            <a:ext cx="649224" cy="25603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800600" y="3675887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BME280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06440" y="3657600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GND  → Pin 6  (GND)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754880" y="4005072"/>
            <a:ext cx="649224" cy="25603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800600" y="4023359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BME280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806440" y="4005072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SDA  → Pin 3  (shared with SCD30)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754880" y="4352544"/>
            <a:ext cx="649224" cy="25603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800600" y="4370831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BME280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806440" y="4352544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SCL  → Pin 5  (shared with SCD30)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754880" y="4700016"/>
            <a:ext cx="649224" cy="256032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800600" y="4718303"/>
            <a:ext cx="6492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BME280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806440" y="4700016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SDO  → Pin 6  (GND)  ← addr = 0x76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754880" y="5029200"/>
            <a:ext cx="6858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754880" y="5047488"/>
            <a:ext cx="726948" cy="25603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00600" y="5065775"/>
            <a:ext cx="7269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PMS5003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06440" y="5047488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VCC  → Pin 2  (5V)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754880" y="5394959"/>
            <a:ext cx="726948" cy="25603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800600" y="5413247"/>
            <a:ext cx="7269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PMS5003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806440" y="5394959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GND  → Pin 9  (GND)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754880" y="5742432"/>
            <a:ext cx="726948" cy="25603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800600" y="5760720"/>
            <a:ext cx="7269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PMS5003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806440" y="5742432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SET  → Pin 11 (GPIO17 HIGH)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754880" y="6089904"/>
            <a:ext cx="726948" cy="25603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800600" y="6108192"/>
            <a:ext cx="7269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PMS5003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806440" y="6089904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TX   → Pin 21 (UART2 RX)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0" y="6437376"/>
            <a:ext cx="726948" cy="256032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800600" y="6455664"/>
            <a:ext cx="7269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0A0E1A"/>
                </a:solidFill>
              </a:rPr>
              <a:t>PMS5003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806440" y="6437376"/>
            <a:ext cx="5852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RX   → Pin 24 (UART2 TX)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Dashboard — Monitor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Real-time KPI cards, trend charts, and particulate matter bars updated every 2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rify_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8321040" cy="5623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1005840"/>
            <a:ext cx="8321040" cy="5623560"/>
          </a:xfrm>
          <a:prstGeom prst="rect">
            <a:avLst/>
          </a:prstGeom>
          <a:noFill/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0" y="1097280"/>
            <a:ext cx="3200400" cy="1234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097280"/>
            <a:ext cx="36576" cy="12344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1521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Live KPI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44475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Temperature, Humidity, PM1, PM2.5,
PM10, CO₂, Battery, Power Source
updated every 2 seconds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560320"/>
            <a:ext cx="3200400" cy="1234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2560320"/>
            <a:ext cx="36576" cy="123444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6151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B00"/>
                </a:solidFill>
              </a:rPr>
              <a:t>Battery Warning Banner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907791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Auto-shown when battery &lt; 30%.
Covers the full width for immediate
staff attention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4023360"/>
            <a:ext cx="3200400" cy="1234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4023360"/>
            <a:ext cx="36576" cy="1234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407822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</a:rPr>
              <a:t>Trend Chart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37083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10-minute rolling temperature
and humidity waveforms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5303520"/>
            <a:ext cx="3200400" cy="1234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0" y="5303520"/>
            <a:ext cx="36576" cy="12344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5358383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252"/>
                </a:solidFill>
              </a:rPr>
              <a:t>PM Bar Chart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6509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PM1 / PM2.5 / PM10 relative
bars with real µg/m³ values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Dashboard — Settings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Admin-only threshold configuration and user management; viewer gets read-only access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rify_sett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8321040" cy="56235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1005840"/>
            <a:ext cx="8321040" cy="5623560"/>
          </a:xfrm>
          <a:prstGeom prst="rect">
            <a:avLst/>
          </a:prstGeom>
          <a:noFill/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778240" y="1097280"/>
            <a:ext cx="3200400" cy="1234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0" y="1097280"/>
            <a:ext cx="36576" cy="123444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15400" y="11521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AB00"/>
                </a:solidFill>
              </a:rPr>
              <a:t>Sensor Thresholds 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144475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Per-parameter Ideal / Best (L1) /
Good (L2) thresholds editable
by admin — saved to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778240" y="2560320"/>
            <a:ext cx="3200400" cy="1234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778240" y="2560320"/>
            <a:ext cx="36576" cy="123444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15400" y="26151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5FF"/>
                </a:solidFill>
              </a:rPr>
              <a:t>Device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2907791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Set OT type (OT / ICU) and
room name — used in CSV
export filenames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3931920"/>
            <a:ext cx="3200400" cy="1234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778240" y="3931920"/>
            <a:ext cx="36576" cy="123444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3986783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0E676"/>
                </a:solidFill>
              </a:rPr>
              <a:t>User 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427939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Admin-only section: list users,
add with role, delete — persisted
to users.json between restarts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778240" y="5257800"/>
            <a:ext cx="3200400" cy="1234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0" y="5257800"/>
            <a:ext cx="36576" cy="123444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15400" y="531266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5252"/>
                </a:solidFill>
              </a:rPr>
              <a:t>Role-Based UI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5605272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Save button hidden for viewers.
User Management section completely
hidden for non-admin sessions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Dashboard — Alarms &amp; History Panels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Alarm log and 24-hour telemetry history pulled live from the SQLite database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erify_alar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005840"/>
            <a:ext cx="5577840" cy="34747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320040" y="1005840"/>
            <a:ext cx="5577840" cy="3474720"/>
          </a:xfrm>
          <a:prstGeom prst="rect">
            <a:avLst/>
          </a:prstGeom>
          <a:noFill/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B00"/>
                </a:solidFill>
              </a:rPr>
              <a:t>ALARM LOG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8920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▸  Parameter name + timestamp + OT ID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521207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▸  WARNING / ALARM level badge (colour)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553212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▸  Sorted latest-first from 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5852159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▸  Auto-refreshes on nav click</a:t>
            </a:r>
          </a:p>
        </p:txBody>
      </p:sp>
      <p:pic>
        <p:nvPicPr>
          <p:cNvPr id="13" name="Picture 12" descr="verify_hist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05840"/>
            <a:ext cx="5623560" cy="3474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263640" y="1005840"/>
            <a:ext cx="5623560" cy="3474720"/>
          </a:xfrm>
          <a:prstGeom prst="rect">
            <a:avLst/>
          </a:prstGeom>
          <a:noFill/>
          <a:ln w="12700">
            <a:solidFill>
              <a:srgbClr val="1E2D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617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</a:rPr>
              <a:t>HISTORY 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489204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▸  Last 24 hours of telemetry rows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521207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▸  Columns: Time / Temp / Humidity / PM2.5 / CO₂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5532120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▸  Pulls from GET /history?hours=24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5852159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▸  CSV export via DOWNLOAD button (auth required)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Authentication &amp;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HMAC-SHA256 signed session cookies · Two roles: admin and viewer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2377440" cy="18288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560320"/>
            <a:ext cx="237744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6700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</a:rPr>
              <a:t>1  LOGIN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3017520"/>
            <a:ext cx="21031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31089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User clicks AUTH button
Enters username + password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2560320"/>
            <a:ext cx="2377440" cy="18288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108960" y="2560320"/>
            <a:ext cx="2377440" cy="457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46120" y="26700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AB00"/>
                </a:solidFill>
              </a:rPr>
              <a:t>2  VERIFY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46120" y="3017520"/>
            <a:ext cx="21031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31089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POST /auth/login
Backend checks users.json
+ config.yaml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2560320"/>
            <a:ext cx="2377440" cy="18288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60720" y="2560320"/>
            <a:ext cx="237744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26700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676"/>
                </a:solidFill>
              </a:rPr>
              <a:t>3  SESSION COOKIE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97880" y="3017520"/>
            <a:ext cx="21031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97880" y="31089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HMAC-SHA256 token set
as HttpOnly cookie
(60 min expiry)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2560320"/>
            <a:ext cx="2377440" cy="18288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12480" y="2560320"/>
            <a:ext cx="237744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9640" y="267004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E5FF"/>
                </a:solidFill>
              </a:rPr>
              <a:t>4  ROLE UI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3017520"/>
            <a:ext cx="21031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49640" y="310896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Admin sees full controls
Viewer sees read-only
User Mgmt hidden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32461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A9BAA"/>
                </a:solidFill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32120" y="32461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A9BAA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79" y="3246120"/>
            <a:ext cx="365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8A9BAA"/>
                </a:solidFill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4617720"/>
            <a:ext cx="11247120" cy="201168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68172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Role Capabilities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5029200"/>
            <a:ext cx="1088136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074920"/>
            <a:ext cx="11247120" cy="2286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51023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A9BAA"/>
                </a:solidFill>
              </a:rPr>
              <a:t>Capability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1023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A9BAA"/>
                </a:solidFill>
              </a:rPr>
              <a:t>Admin 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51023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8A9BAA"/>
                </a:solidFill>
              </a:rPr>
              <a:t>Viewer 👁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303520"/>
            <a:ext cx="11247120" cy="22860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3309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Monitor panel (live data)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53309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E676"/>
                </a:solidFill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326880" y="53309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AB00"/>
                </a:solidFill>
              </a:rPr>
              <a:t>✓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7200" y="5532120"/>
            <a:ext cx="11247120" cy="2286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559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Download CSV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0" y="5559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E676"/>
                </a:solidFill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80" y="55595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AB00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760720"/>
            <a:ext cx="11247120" cy="22860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" y="57881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View Alarms / History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7881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E676"/>
                </a:solidFill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326880" y="57881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AB00"/>
                </a:solidFill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5989320"/>
            <a:ext cx="11247120" cy="2286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0167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Edit thresholds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60167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E676"/>
                </a:solidFill>
              </a:rPr>
              <a:t>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326880" y="60167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AB00"/>
                </a:solidFill>
              </a:rPr>
              <a:t>✗  (hidden)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6217920"/>
            <a:ext cx="11247120" cy="22860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62453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Manage users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0" y="62453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E676"/>
                </a:solidFill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326880" y="62453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AB00"/>
                </a:solidFill>
              </a:rPr>
              <a:t>✗  (hidden)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457200" y="6446520"/>
            <a:ext cx="11247120" cy="2286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40080" y="64739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</a:rPr>
              <a:t>Acknowledge alarms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858000" y="64739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00E676"/>
                </a:solidFill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26880" y="6473952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AB00"/>
                </a:solidFill>
              </a:rPr>
              <a:t>✗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Alarm Engine — Threshold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NABH / ASHRAE 170 compliant thresholds with hysteresis to prevent alarm fatigue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7589520" cy="53949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15568"/>
            <a:ext cx="6858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Parameter Thresholds (ASHRAE 170 / WHO 2021)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73152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9BAA"/>
                </a:solidFill>
              </a:rPr>
              <a:t>Parameter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1508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9BAA"/>
                </a:solidFill>
              </a:rPr>
              <a:t>Nominal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150876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9BAA"/>
                </a:solidFill>
              </a:rPr>
              <a:t>Warning 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508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9BAA"/>
                </a:solidFill>
              </a:rPr>
              <a:t>Warning 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1508760"/>
            <a:ext cx="1005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9BAA"/>
                </a:solidFill>
              </a:rPr>
              <a:t>Alarm 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1508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8A9BAA"/>
                </a:solidFill>
              </a:rPr>
              <a:t>Alarm High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1810512"/>
            <a:ext cx="7223760" cy="658368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9339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Temperature (°C)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29000" y="199339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99339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199339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25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23744"/>
            <a:ext cx="7223760" cy="658368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706624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Humidity (%RH)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27066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52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2706624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27066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0" y="2706624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706624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FF"/>
                </a:solidFill>
              </a:rPr>
              <a:t>70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236976"/>
            <a:ext cx="7223760" cy="658368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419856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CO₂ (ppm)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31720" y="34198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B00"/>
                </a:solidFill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29000" y="3419856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B00"/>
                </a:solidFill>
              </a:rPr>
              <a:t>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34198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B00"/>
                </a:solidFill>
              </a:rPr>
              <a:t>1000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0" y="3419856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B00"/>
                </a:solidFill>
              </a:rPr>
              <a:t>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0840" y="3419856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AB00"/>
                </a:solidFill>
              </a:rPr>
              <a:t>1200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3950208"/>
            <a:ext cx="7223760" cy="658368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13308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PM2.5 (µg/m³)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31720" y="4133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429000" y="4133088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—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4133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0" y="413308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13308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4663440"/>
            <a:ext cx="7223760" cy="658368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84632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PM10 (µg/m³)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31720" y="4846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29000" y="4846320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0" y="4846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20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0" y="4846320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4846320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5252"/>
                </a:solidFill>
              </a:rPr>
              <a:t>50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02920" y="5376672"/>
            <a:ext cx="7223760" cy="658368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555955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Pressure (hPa)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331720" y="55595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1013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0" y="5559552"/>
            <a:ext cx="1051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990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0" y="55595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1030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669280" y="5559552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970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720840" y="55595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1050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92440" y="1051560"/>
            <a:ext cx="3749039" cy="53949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275320" y="1115568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Hysteresis Design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275320" y="1463040"/>
            <a:ext cx="338328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8275320" y="1554480"/>
            <a:ext cx="3383280" cy="114300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275320" y="1554480"/>
            <a:ext cx="36576" cy="114300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412480" y="16184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AB00"/>
                </a:solidFill>
              </a:rPr>
              <a:t>Trigger Delay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412480" y="190195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Parameter must exceed
threshold continuously
for 5 seconds before
an alarm fires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275320" y="2788920"/>
            <a:ext cx="3383280" cy="114300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275320" y="2788920"/>
            <a:ext cx="36576" cy="114300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412480" y="2852927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676"/>
                </a:solidFill>
              </a:rPr>
              <a:t>Clear Delay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412480" y="3136391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Must stay back in safe
range for 10 seconds
before alarm clears
(prevents chattering)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75320" y="4023360"/>
            <a:ext cx="3383280" cy="114300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275320" y="4023360"/>
            <a:ext cx="36576" cy="11430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412480" y="40873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Combination Rule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80" y="437083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PM2.5 spike + high
occupancy together
trigger elevated-risk
notification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275320" y="5257800"/>
            <a:ext cx="3383280" cy="1143000"/>
          </a:xfrm>
          <a:prstGeom prst="rect">
            <a:avLst/>
          </a:prstGeom>
          <a:solidFill>
            <a:srgbClr val="1A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8275320" y="5257800"/>
            <a:ext cx="36576" cy="1143000"/>
          </a:xfrm>
          <a:prstGeom prst="rect">
            <a:avLst/>
          </a:prstGeom>
          <a:solidFill>
            <a:srgbClr val="8A9B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412480" y="532180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A9BAA"/>
                </a:solidFill>
              </a:rPr>
              <a:t>Alarm Levels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412480" y="5605272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NORMAL → WARNING
→ ALARM → FAULT
Each stored in
SQLite alarm 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 Flow — End to 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From physical sensor to dashboard KPI card in under 2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1920240" cy="22860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192024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9768" y="1261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</a:rPr>
              <a:t>SENSORS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609344"/>
            <a:ext cx="1700784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691640"/>
            <a:ext cx="17007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SCD30 + BME280 + PMS5003
Read every 2 seconds
via asyncio thread pool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1188720"/>
            <a:ext cx="1920240" cy="22860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23160" y="1188720"/>
            <a:ext cx="1920240" cy="457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1261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AB00"/>
                </a:solidFill>
              </a:rPr>
              <a:t>HARDWARE SOURCE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32888" y="1609344"/>
            <a:ext cx="1700784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2888" y="1691640"/>
            <a:ext cx="17007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HardwareSource assembles
TelemetryPacket
Timestamped in IST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188720"/>
            <a:ext cx="1920240" cy="22860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26280" y="1188720"/>
            <a:ext cx="192024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008" y="1261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676"/>
                </a:solidFill>
              </a:rPr>
              <a:t>ALARM ENGINE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36008" y="1609344"/>
            <a:ext cx="1700784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1691640"/>
            <a:ext cx="17007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Evaluate thresholds
Apply hysteresis rules
Fire callbacks on breach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1188720"/>
            <a:ext cx="1920240" cy="22860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29400" y="1188720"/>
            <a:ext cx="192024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39128" y="1261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E5FF"/>
                </a:solidFill>
              </a:rPr>
              <a:t>STORAGE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39128" y="1609344"/>
            <a:ext cx="1700784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39128" y="1691640"/>
            <a:ext cx="17007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Insert telemetry row
Insert alarm event
SQLite WAL mode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1188720"/>
            <a:ext cx="1920240" cy="22860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32520" y="1188720"/>
            <a:ext cx="1920240" cy="457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42248" y="1261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5252"/>
                </a:solidFill>
              </a:rPr>
              <a:t>REST API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842248" y="1609344"/>
            <a:ext cx="1700784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42248" y="1691640"/>
            <a:ext cx="17007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GET /history
GET /alarms
WebSocket broadcast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835640" y="1188720"/>
            <a:ext cx="1920240" cy="22860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835640" y="1188720"/>
            <a:ext cx="192024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45367" y="1261872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945367" y="1609344"/>
            <a:ext cx="1700784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45367" y="1691640"/>
            <a:ext cx="170078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8A9BAA"/>
                </a:solidFill>
              </a:rPr>
              <a:t>KPI cards update
Alarm banners show
History table fills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8600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D40"/>
                </a:solidFill>
              </a:rPr>
              <a:t>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2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D40"/>
                </a:solidFill>
              </a:rPr>
              <a:t>▶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D40"/>
                </a:solidFill>
              </a:rPr>
              <a:t>▶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D40"/>
                </a:solidFill>
              </a:rPr>
              <a:t>▶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98480" y="205740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E2D40"/>
                </a:solidFill>
              </a:rPr>
              <a:t>▶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3749039"/>
            <a:ext cx="1152144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0040" y="379476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Total end-to-end latency: &lt; 2 seconds (poll interval = 2 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20040" y="4251960"/>
            <a:ext cx="11521440" cy="233172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2920" y="431596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Storage &amp; Retention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663440"/>
            <a:ext cx="1115568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4709160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Database: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920240" y="4709160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SQLite with WAL mode — concurrent reads without locking the write path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056632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Telemetry: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5056632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1 row per 2-second poll · fields: ot_id, timestamp, temp, humidity, PM2.5, CO₂, pressure, status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5404104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Alarms: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920240" y="5404104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Every threshold breach logged: parameter, level, value, message, acknowledged, duration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02920" y="5751576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Retention: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920240" y="5751576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90 days default (configurable) · auto-pruned every 6 hours by background task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099048"/>
            <a:ext cx="1371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0E5FF"/>
                </a:solidFill>
              </a:rPr>
              <a:t>Export: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920240" y="6099048"/>
            <a:ext cx="9692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A"/>
                </a:solidFill>
              </a:rPr>
              <a:t>GET /export/csv → downloadable audit report for NABH / infection control review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Raspberry Pi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From fresh SD card to live dashboard in under 30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3749039" cy="24231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3749039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161288"/>
            <a:ext cx="365760" cy="3657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161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1795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Flash SD Card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54480"/>
            <a:ext cx="34747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45919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Raspberry Pi Imager → RPi OS Lite 64-bit
Pre-configure SSH, hostname: ot-monitor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051560"/>
            <a:ext cx="3749039" cy="24231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59" y="1051560"/>
            <a:ext cx="3749039" cy="457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161288"/>
            <a:ext cx="365760" cy="36576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161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11795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B00"/>
                </a:solidFill>
              </a:rPr>
              <a:t>Enable Interfaces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554480"/>
            <a:ext cx="34747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1645919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/boot/firmware/config.txt:
  dtparam=i2c_arm_baudrate=10000
  dtoverlay=uart2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1051560"/>
            <a:ext cx="3749039" cy="24231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9" y="1051560"/>
            <a:ext cx="3749039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321040" y="1161288"/>
            <a:ext cx="365760" cy="3657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16128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78240" y="1179576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Install Libraries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1554480"/>
            <a:ext cx="34747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1040" y="1645919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pip install adafruit-circuitpython-scd30
adafruit-circuitpython-bme280 pyserial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3703320"/>
            <a:ext cx="3749039" cy="24231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703320"/>
            <a:ext cx="3749039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813048"/>
            <a:ext cx="365760" cy="36576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3813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383133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Test Sensors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206240"/>
            <a:ext cx="34747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297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python sensors/test_sensors.py
All three sensors must show PASS
before going to hardware mode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3703320"/>
            <a:ext cx="3749039" cy="24231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51959" y="3703320"/>
            <a:ext cx="3749039" cy="457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3813048"/>
            <a:ext cx="365760" cy="36576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389120" y="3813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46320" y="383133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252"/>
                </a:solidFill>
              </a:rPr>
              <a:t>Configure &amp; Run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89120" y="4206240"/>
            <a:ext cx="34747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0" y="4297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config.yaml: data_source.type: hardware
server.host: 0.0.0.0
Change session_secret + passwords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9" y="3703320"/>
            <a:ext cx="3749039" cy="242316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83879" y="3703320"/>
            <a:ext cx="3749039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321040" y="3813048"/>
            <a:ext cx="36576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0" y="3813048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A0E1A"/>
                </a:solidFill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78240" y="383133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Autostart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21040" y="4206240"/>
            <a:ext cx="34747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321040" y="429768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systemd service: ot-monitor.service
sudo systemctl enable ot-monitor
Dashboard at :8001 on every boot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E5FF"/>
                </a:solidFill>
              </a:rPr>
              <a:t>Access dashboard:  http://ot-monitor.local:8001/   or   http://&lt;RPi-IP&gt;:8001/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Clinical &amp; Regulatory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00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8A9BAA"/>
                </a:solidFill>
              </a:rPr>
              <a:t>Thresholds derived from NABH, ASHRAE 170-2021, WHO IEQ 2021, ISO 14644-1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914400"/>
            <a:ext cx="1143000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51560"/>
            <a:ext cx="5669280" cy="2377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51560"/>
            <a:ext cx="5669280" cy="457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161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5FF"/>
                </a:solidFill>
              </a:rPr>
              <a:t>NABH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554480"/>
            <a:ext cx="53035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45919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National Accreditation Board for Hospitals &amp; Healthcare Providers (India)
OT environment: 20–24°C, 40–60%RH, positive pressure ≥ 8 Pa,
≥ 20 Air Changes per Hour (ACH), HEPA filtration.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051560"/>
            <a:ext cx="5669280" cy="2377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51560"/>
            <a:ext cx="5669280" cy="457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161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AB00"/>
                </a:solidFill>
              </a:rPr>
              <a:t>ASHRAE 170-2021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46520" y="1554480"/>
            <a:ext cx="53035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645919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Ventilation of Health Care Facilities — North American standard adopted globally.
OT: 20–24°C, 30–60%RH, ≥20 ACH total / ≥4 ACH outside air,
PM2.5 ≤ 25 µg/m³, PM10 ≤ 50 µg/m³.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657600"/>
            <a:ext cx="5669280" cy="2377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657600"/>
            <a:ext cx="5669280" cy="457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767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E676"/>
                </a:solidFill>
              </a:rPr>
              <a:t>WHO IEQ 2021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60520"/>
            <a:ext cx="53035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425196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Indoor Air Quality Guidelines (updated 2021).
PM2.5 24-hr average ≤ 15 µg/m³, PM10 ≤ 45 µg/m³,
CO₂ &lt; 1000 ppm in occupied clinical spaces.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657600"/>
            <a:ext cx="5669280" cy="237744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657600"/>
            <a:ext cx="5669280" cy="457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46520" y="376732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5252"/>
                </a:solidFill>
              </a:rPr>
              <a:t>ISO 14644-1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520" y="4160520"/>
            <a:ext cx="5303520" cy="12700"/>
          </a:xfrm>
          <a:prstGeom prst="rect">
            <a:avLst/>
          </a:prstGeom>
          <a:solidFill>
            <a:srgbClr val="1E2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251960"/>
            <a:ext cx="530352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Cleanrooms and Associated Controlled Environments.
OT typically ISO Class 7 (Class 10,000):
≤ 352,000 particles ≥ 0.5µm per m³ — monitored via PMS5003.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355080"/>
            <a:ext cx="115214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8A9BAA"/>
                </a:solidFill>
              </a:rPr>
              <a:t>All thresholds stored in config/config.yaml — editable via Settings panel (admin only) without restarting the backend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45720" cy="6784848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9144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SYSTEM 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325880"/>
            <a:ext cx="5029200" cy="2540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508760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50876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Complete Hardware Stack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Raspberry Pi 4 + SCD30 + BME280 + PMS5003 — all sensors integrated and tested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258568"/>
            <a:ext cx="54864" cy="50292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58568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676"/>
                </a:solidFill>
              </a:rPr>
              <a:t>Real-Time Monitoring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32887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6 environmental parameters polled every 2 seconds with live dashboard updates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008376"/>
            <a:ext cx="54864" cy="502920"/>
          </a:xfrm>
          <a:prstGeom prst="rect">
            <a:avLst/>
          </a:prstGeom>
          <a:solidFill>
            <a:srgbClr val="FF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008376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AB00"/>
                </a:solidFill>
              </a:rPr>
              <a:t>Clinical Alarm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82696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NABH / ASHRAE 170 thresholds with hysteresis — zero false alarm fatigue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58183"/>
            <a:ext cx="54864" cy="502920"/>
          </a:xfrm>
          <a:prstGeom prst="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758183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5252"/>
                </a:solidFill>
              </a:rPr>
              <a:t>Secure Multi-User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032503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HMAC-SHA256 sessions, role-based UI — admin vs viewer from any browser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507992"/>
            <a:ext cx="54864" cy="502920"/>
          </a:xfrm>
          <a:prstGeom prst="rect">
            <a:avLst/>
          </a:prstGeom>
          <a:solidFill>
            <a:srgbClr val="00E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507992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E5FF"/>
                </a:solidFill>
              </a:rPr>
              <a:t>90-Day Data Retention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782312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SQLite time-series + alarm log, CSV export for audit and compliance reporting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257800"/>
            <a:ext cx="54864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257800"/>
            <a:ext cx="5943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Zero-Dependency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3212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8A9BAA"/>
                </a:solidFill>
              </a:rPr>
              <a:t>Single HTML file served from backend — no build step, works on any device</a:t>
            </a:r>
          </a:p>
        </p:txBody>
      </p:sp>
      <p:pic>
        <p:nvPicPr>
          <p:cNvPr id="24" name="Picture 23" descr="logout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234440"/>
            <a:ext cx="5029200" cy="320040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949440" y="1234440"/>
            <a:ext cx="5029200" cy="3200400"/>
          </a:xfrm>
          <a:prstGeom prst="rect">
            <a:avLst/>
          </a:prstGeom>
          <a:noFill/>
          <a:ln w="190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4572000"/>
            <a:ext cx="5029200" cy="914400"/>
          </a:xfrm>
          <a:prstGeom prst="rect">
            <a:avLst/>
          </a:prstGeom>
          <a:solidFill>
            <a:srgbClr val="1218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49440" y="46177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E5FF"/>
                </a:solidFill>
              </a:rPr>
              <a:t>http://ot-monitor.local:8001/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983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8A9BAA"/>
                </a:solidFill>
              </a:rPr>
              <a:t>admin / OTAdmin2024  ·  nurse / OTNurse2024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1E2D40"/>
                </a:solidFill>
              </a:rPr>
              <a:t>OT Infection Monitoring System  ·  Raspberry Pi 4 + SCD30 + BME280 + PMS5003  ·  June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